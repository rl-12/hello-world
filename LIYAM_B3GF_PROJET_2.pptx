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llo-world/bef4f35c-a5d5-5f57-b834-f927468a9214/scratchpad/assets/hea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3063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063240"/>
            <a:ext cx="12191695" cy="640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PROJET PROFESSIONNEL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3 Gestion Finance — ESG Guadeloupe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Modernisation des Processus Financiers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F45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210312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Entreprise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95728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(Boulangerie)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543300" y="210312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CA 2025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543300" y="2395728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960k€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10312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Candidat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2395728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Liyam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983980" y="210312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Période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983980" y="2395728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Introduction — Contexte &amp; Problématique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51560"/>
            <a:ext cx="11183112" cy="3337560"/>
          </a:xfrm>
          <a:prstGeom prst="roundRect">
            <a:avLst>
              <a:gd name="adj" fmla="val 1791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207008"/>
            <a:ext cx="36576" cy="822960"/>
          </a:xfrm>
          <a:prstGeom prst="rect">
            <a:avLst/>
          </a:prstGeom>
          <a:solidFill>
            <a:srgbClr val="1E3F7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207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L'Artos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4996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Boulangerie-Pâtisserie-Traiteur</a:t>
            </a:r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artisanale fondée par Frantz Baltyde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755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: </a:t>
            </a:r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Baie-Mahault, Guadeloupe   </a:t>
            </a:r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: </a:t>
            </a:r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960k€ (2025)   </a:t>
            </a:r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 : </a:t>
            </a:r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~15-20 collaborateurs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966960" y="12801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297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CONFIRMÉE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4088" y="2075688"/>
            <a:ext cx="10780776" cy="0"/>
          </a:xfrm>
          <a:prstGeom prst="line">
            <a:avLst/>
          </a:prstGeom>
          <a:noFill/>
          <a:ln w="12700">
            <a:solidFill>
              <a:srgbClr val="E3E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176272"/>
            <a:ext cx="36576" cy="777240"/>
          </a:xfrm>
          <a:prstGeom prst="rect">
            <a:avLst/>
          </a:prstGeom>
          <a:solidFill>
            <a:srgbClr val="1E3F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2176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Secteur — Boulangerie-Pâtisserie France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487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9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" y="2487168"/>
            <a:ext cx="980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43k+ établissements (1er commerce de proximité)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27614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9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" y="2761488"/>
            <a:ext cx="980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 Md€ CA annuel (2025)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0358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B2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" y="3035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ralentie : +2% (2025)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4088" y="3310128"/>
            <a:ext cx="10780776" cy="0"/>
          </a:xfrm>
          <a:prstGeom prst="line">
            <a:avLst/>
          </a:prstGeom>
          <a:noFill/>
          <a:ln w="12700">
            <a:solidFill>
              <a:srgbClr val="E3E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" y="3392424"/>
            <a:ext cx="36576" cy="6858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33924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Enjeux Critiques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3703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Conformité légale — </a:t>
            </a:r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électronique obligatoire sept 2026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9593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Efficience opérationnelle — </a:t>
            </a:r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manuels coûteux en temps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599432"/>
            <a:ext cx="41148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" y="4572000"/>
            <a:ext cx="5340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Problématique Retenue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02920" y="4937760"/>
            <a:ext cx="11183112" cy="1371600"/>
          </a:xfrm>
          <a:prstGeom prst="roundRect">
            <a:avLst>
              <a:gd name="adj" fmla="val 3429"/>
            </a:avLst>
          </a:prstGeom>
          <a:solidFill>
            <a:srgbClr val="F1F2F5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4937760"/>
            <a:ext cx="64008" cy="13716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937760"/>
            <a:ext cx="10680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moderniser les processus financiers et comptables de L'Artos tout en préparant la conformité à la facturation électronique obligatoire (septembre 2026), et améliorer la visibilité opérationnelle pour piloter les marges en contexte de ralentissement sectoriel ?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Veille Économique, Réglementaire &amp; Sectorielle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78992"/>
            <a:ext cx="41148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9224" y="1051560"/>
            <a:ext cx="7168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 Macroéconomique 2025-2026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50876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boulangerie-pâtisserie française traverse une phase de transition critique.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une croissance post-COVID spectaculaire (+20% en 2021, +9% en 2022, +5% en 2023), le secteur marque le pas avec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+2% de croissance en 2025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 plus faible performance depuis la fin de la crise sanitaire.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23160"/>
          <a:ext cx="111831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6245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 pour L'Artos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Établissements actifs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43k+ (croissance)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Concurrence intensifiée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 d'affaires secteur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 Md€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Marché fragmenté, besoin différenciation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moyen artisan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235k-440k€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L'Artos à 960k€ : bien au-dessus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PME confirmée, croissance forte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Croissance réseaux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 (vs +2% artisans)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Pression sur marges, nécessité d'optimisation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4645152"/>
            <a:ext cx="41148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9224" y="4617720"/>
            <a:ext cx="8083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Évolutions Réglementaires CRITIQUES (2026-2027)</a:t>
            </a:r>
            <a:endParaRPr lang="en-US" sz="1450" dirty="0"/>
          </a:p>
        </p:txBody>
      </p:sp>
      <p:pic>
        <p:nvPicPr>
          <p:cNvPr id="10" name="Image 0" descr="/tmp/claude-0/-home-user-hello-world/bef4f35c-a5d5-5f57-b834-f927468a9214/scratchpad/assets/card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10912"/>
            <a:ext cx="3636264" cy="12344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5102352"/>
            <a:ext cx="336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FACTURATION ÉLECTRONIQUE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5330952"/>
            <a:ext cx="3453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2026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5788152"/>
            <a:ext cx="3361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obligatoire (toutes entreprises)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2027 : ÉMISSION (TPE/PME)</a:t>
            </a:r>
            <a:endParaRPr lang="en-US" sz="750" dirty="0"/>
          </a:p>
        </p:txBody>
      </p:sp>
      <p:pic>
        <p:nvPicPr>
          <p:cNvPr id="14" name="Image 1" descr="/tmp/claude-0/-home-user-hello-world/bef4f35c-a5d5-5f57-b834-f927468a9214/scratchpad/assets/card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344" y="5010912"/>
            <a:ext cx="3636264" cy="12344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13504" y="5102352"/>
            <a:ext cx="336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RÉFORME PCG 2025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4367784" y="5330952"/>
            <a:ext cx="3453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 2025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4413504" y="5788152"/>
            <a:ext cx="3361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comptes : 2000→1600 comptes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restructurée</a:t>
            </a:r>
            <a:endParaRPr lang="en-US" sz="750" dirty="0"/>
          </a:p>
        </p:txBody>
      </p:sp>
      <p:pic>
        <p:nvPicPr>
          <p:cNvPr id="18" name="Image 2" descr="/tmp/claude-0/-home-user-hello-world/bef4f35c-a5d5-5f57-b834-f927468a9214/scratchpad/assets/card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768" y="5010912"/>
            <a:ext cx="3636264" cy="12344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186928" y="5102352"/>
            <a:ext cx="336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PLATEFORME AGRÉÉE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8141208" y="5330952"/>
            <a:ext cx="3453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8186928" y="5788152"/>
            <a:ext cx="3361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PA immatriculées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400-600€/an</a:t>
            </a:r>
            <a:endParaRPr lang="en-US" sz="750" dirty="0"/>
          </a:p>
        </p:txBody>
      </p:sp>
      <p:sp>
        <p:nvSpPr>
          <p:cNvPr id="22" name="Text 16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Facturation Électronique : Calendrier d'Obligation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97280"/>
            <a:ext cx="11183112" cy="1600200"/>
          </a:xfrm>
          <a:prstGeom prst="roundRect">
            <a:avLst>
              <a:gd name="adj" fmla="val 3429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64008" cy="16002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1298448"/>
            <a:ext cx="384048" cy="384048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Électronique : Calendrier d'Obligation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6916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 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entreprises doivent RECEVOIR factures électroniques via Plateforme Agréée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8483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2027 :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PME/TPE/Micro doivent ÉMETTRE factures électroniques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2395728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EB215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3957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AMENDE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395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50€/facture non-conforme (plafond 15k€/an)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999232"/>
            <a:ext cx="41148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" y="2971800"/>
            <a:ext cx="7168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Tendances Secteur &amp; Opportunités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positifs pour L'Artos 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63016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9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363016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croissante produits locaux/artisanaux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931920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9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3931920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marché sans gluten et végane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23367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9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4233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Essor snacking premium (formules, salades, boissons)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535424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9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4535424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Levain : +178% recherches (consommateurs pensent « plus sain »)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919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à relever :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5212080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2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5212080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réseaux structurés (+8% vs +2% artisans)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551383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2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551383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matières premières persistante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5815584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2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5815584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Marges sous pression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117336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2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58952" y="6117336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 obligatoire (facture électronique, e-reporting)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Diagnostic des Processus Financiers &amp; Comptables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78992"/>
            <a:ext cx="41148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9224" y="1051560"/>
            <a:ext cx="7168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des 3 Processus Critiques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636264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521208" y="1746504"/>
            <a:ext cx="347472" cy="3474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1208" y="1746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73736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d'Achat Fournisseurs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2130552"/>
            <a:ext cx="3590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actuel 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(email/téléphone) → Réception marchandise → Facture (PDF/papier) → Saisie manuelle FIPAG → Paiement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21208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: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" y="28986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898648"/>
            <a:ext cx="333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multiples (pas de centralisation)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21208" y="31455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145536"/>
            <a:ext cx="333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hétérogènes (PDF, papier, portail)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21208" y="339242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392424"/>
            <a:ext cx="333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traitement : 5-10 jours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" y="36393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639312"/>
            <a:ext cx="333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doublon de paiement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76344" y="1600200"/>
            <a:ext cx="3636264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4632" y="1746504"/>
            <a:ext cx="347472" cy="3474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94632" y="1746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79264" y="173736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&amp; Flux de Caisse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94632" y="2130552"/>
            <a:ext cx="3590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actuel 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 quotidiennes (espèces + CB) → Sorties planifiées (salaires, fournisseurs) → Suivi bancaire réactif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294632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: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294632" y="28986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50664" y="2898648"/>
            <a:ext cx="333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budget trésorerie prévisionnel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294632" y="31455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50664" y="3145536"/>
            <a:ext cx="333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bancaire manuel (hebdomadaire)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294632" y="339242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50664" y="3392424"/>
            <a:ext cx="333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non justifiés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294632" y="36393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50664" y="3639312"/>
            <a:ext cx="333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découvert non anticipé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49768" y="1600200"/>
            <a:ext cx="3636264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5" name="Shape 33"/>
          <p:cNvSpPr/>
          <p:nvPr/>
        </p:nvSpPr>
        <p:spPr>
          <a:xfrm>
            <a:off x="8068056" y="1746504"/>
            <a:ext cx="347472" cy="3474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68056" y="1746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552688" y="173736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Mensuel &amp; Clôture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068056" y="2130552"/>
            <a:ext cx="3590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actuel 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mois → Saisie écritures → Clôture FIPAG → Export liasse → Validation cabinet (15-20 jours)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068056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: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068056" y="28986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324088" y="2898648"/>
            <a:ext cx="333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clôture : 20-25 jours après fin mois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068056" y="31455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324088" y="3145536"/>
            <a:ext cx="333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reporting intermédiaire (15e du mois)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068056" y="339242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324088" y="3392424"/>
            <a:ext cx="333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KPI d'exploitation (marges, stocks, RH)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068056" y="36393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8324088" y="3639312"/>
            <a:ext cx="333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financières déconnectées des opérationnelles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2920" y="4663440"/>
            <a:ext cx="11183112" cy="1691640"/>
          </a:xfrm>
          <a:prstGeom prst="roundRect">
            <a:avLst>
              <a:gd name="adj" fmla="val 3243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31520" y="480060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CONTEXTE ENTREPRISE — L'ARTOS EST UNE PME CONFIRMÉE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731520" y="5138928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960k€ de CA en 2025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~15-20 collaborateurs, L'Artos dépasse largement la moyenne des boulangeries artisanales (235-440k€). C'est une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en croissance forte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doit professionnaliser ses processus financiers pour supporter cette croissance. Les dysfonctionnements identifiés ont donc un impact d'autant plus critique sur la performance globale.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Identification des 5 Dysfonctionnements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18311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06240"/>
                <a:gridCol w="1554480"/>
                <a:gridCol w="3840480"/>
                <a:gridCol w="941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Dysfonctionnement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Non-conformité réglementaire 2026 (e-facture, PCG)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21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Pénalités légales, rejets déclaration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Saisie manuelle sans traçabilité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8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Erreurs comptables, risques audit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Processus achat fragmenté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8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Surcoûts, doublons, négociations perdues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non pilotée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MOY-HAUTE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Agios, mauvaises décisions financières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tardif &amp; non-actionnable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B8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Marges érodées, manque de réactivité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2999232"/>
            <a:ext cx="41148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9224" y="2971800"/>
            <a:ext cx="8083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Trois Recommandations de Modernisation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38328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Recommandation 1 — CONFORMITÉ FACTURATION ÉLECTRONIQUE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3749040"/>
            <a:ext cx="11183112" cy="1417320"/>
          </a:xfrm>
          <a:prstGeom prst="roundRect">
            <a:avLst>
              <a:gd name="adj" fmla="val 3871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3749040"/>
            <a:ext cx="11183112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3913632"/>
            <a:ext cx="365760" cy="36576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16152" y="3913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Conformité Facturation Électronique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 :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554480" y="43434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B215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55448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78892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Sept 2026 arrive vite (2 mois)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Concrètes :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Recommandation 1 — Conformité Facturation Électronique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Concrètes :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71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une Plateforme Agréée (PA)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compatible FIPAG — Recommandations : Pennylane, Kolecto, Tiime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470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847088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PCG 2025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Vérifier conformité FIPAG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3225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22576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équipe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Réception factures électroniques (4-5h)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7980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98064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Migration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Pilote août, go live 1er sept</a:t>
            </a:r>
            <a:endParaRPr lang="en-US" sz="1150" dirty="0"/>
          </a:p>
        </p:txBody>
      </p:sp>
      <p:pic>
        <p:nvPicPr>
          <p:cNvPr id="13" name="Image 0" descr="/tmp/claude-0/-home-user-hello-world/bef4f35c-a5d5-5f57-b834-f927468a9214/scratchpad/assets/bar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29000"/>
            <a:ext cx="11183112" cy="9601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1520" y="3538728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BÉNÉFICES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739896"/>
            <a:ext cx="10725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✔️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096512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risque amende  ·  Gain 3-5h/semaine</a:t>
            </a:r>
            <a:endParaRPr lang="en-US" sz="950" dirty="0"/>
          </a:p>
        </p:txBody>
      </p:sp>
      <p:pic>
        <p:nvPicPr>
          <p:cNvPr id="17" name="Image 1" descr="/tmp/claude-0/-home-user-hello-world/bef4f35c-a5d5-5f57-b834-f927468a9214/scratchpad/assets/bar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480560"/>
            <a:ext cx="11183112" cy="9601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31520" y="4590288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BUDGET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731520" y="4791456"/>
            <a:ext cx="10725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750€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731520" y="5148072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+ audit + formation</a:t>
            </a:r>
            <a:endParaRPr lang="en-US" sz="950" dirty="0"/>
          </a:p>
        </p:txBody>
      </p:sp>
      <p:pic>
        <p:nvPicPr>
          <p:cNvPr id="21" name="Image 2" descr="/tmp/claude-0/-home-user-hello-world/bef4f35c-a5d5-5f57-b834-f927468a9214/scratchpad/assets/bar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532120"/>
            <a:ext cx="11183112" cy="9601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31520" y="5641848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ROI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5843016"/>
            <a:ext cx="10725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mois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6199632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temps = 3-7k€/an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Recommandation 2 — Automatisation Cycle Achat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51560"/>
            <a:ext cx="365760" cy="36576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051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Processus Achat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0" y="148132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5981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Adresse dysfonctionnements 1 &amp; 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87452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Centrale d'Achats unique (feuille partagée + modèles) + Appairage automatisé OA/BL/Facture via FIPAG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3636264" cy="1417320"/>
          </a:xfrm>
          <a:prstGeom prst="roundRect">
            <a:avLst>
              <a:gd name="adj" fmla="val 3871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468880"/>
            <a:ext cx="45720" cy="1417320"/>
          </a:xfrm>
          <a:prstGeom prst="rect">
            <a:avLst/>
          </a:prstGeom>
          <a:solidFill>
            <a:srgbClr val="1E3F7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578608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Fournisseurs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2926080"/>
            <a:ext cx="306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contact, SIRET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3200400"/>
            <a:ext cx="306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paiement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3474720"/>
            <a:ext cx="306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FIPAG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76344" y="2468880"/>
            <a:ext cx="3636264" cy="1417320"/>
          </a:xfrm>
          <a:prstGeom prst="roundRect">
            <a:avLst>
              <a:gd name="adj" fmla="val 3871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6344" y="2468880"/>
            <a:ext cx="45720" cy="1417320"/>
          </a:xfrm>
          <a:prstGeom prst="rect">
            <a:avLst/>
          </a:prstGeom>
          <a:solidFill>
            <a:srgbClr val="1E3F7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59224" y="2578608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 Commande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459224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715256" y="2926080"/>
            <a:ext cx="306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N°OA auto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459224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715256" y="3200400"/>
            <a:ext cx="306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fournisseur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459224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715256" y="3474720"/>
            <a:ext cx="306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quantité, prix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49768" y="2468880"/>
            <a:ext cx="3636264" cy="1417320"/>
          </a:xfrm>
          <a:prstGeom prst="roundRect">
            <a:avLst>
              <a:gd name="adj" fmla="val 3871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9768" y="2468880"/>
            <a:ext cx="45720" cy="1417320"/>
          </a:xfrm>
          <a:prstGeom prst="rect">
            <a:avLst/>
          </a:prstGeom>
          <a:solidFill>
            <a:srgbClr val="1E3F7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32648" y="2578608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Appairage Auto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32648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488680" y="2926080"/>
            <a:ext cx="306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 vs BL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232648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488680" y="3200400"/>
            <a:ext cx="306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 vs Facture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232648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488680" y="3474720"/>
            <a:ext cx="306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écarts</a:t>
            </a:r>
            <a:endParaRPr lang="en-US" sz="950" dirty="0"/>
          </a:p>
        </p:txBody>
      </p:sp>
      <p:pic>
        <p:nvPicPr>
          <p:cNvPr id="39" name="Image 0" descr="/tmp/claude-0/-home-user-hello-world/bef4f35c-a5d5-5f57-b834-f927468a9214/scratchpad/assets/bar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60520"/>
            <a:ext cx="3639312" cy="91440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731520" y="427024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BÉNÉFICES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731520" y="447141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7j → 2j</a:t>
            </a:r>
            <a:endParaRPr lang="en-US" sz="2200" dirty="0"/>
          </a:p>
        </p:txBody>
      </p:sp>
      <p:sp>
        <p:nvSpPr>
          <p:cNvPr id="42" name="Text 39"/>
          <p:cNvSpPr txBox="1"/>
          <p:nvPr/>
        </p:nvSpPr>
        <p:spPr>
          <a:xfrm>
            <a:off x="731520" y="47823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mieux maîtrisée, moins d'erreurs</a:t>
            </a:r>
            <a:endParaRPr lang="en-US" sz="950" dirty="0"/>
          </a:p>
        </p:txBody>
      </p:sp>
      <p:pic>
        <p:nvPicPr>
          <p:cNvPr id="43" name="Image 1" descr="/tmp/claude-0/-home-user-hello-world/bef4f35c-a5d5-5f57-b834-f927468a9214/scratchpad/assets/bar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4160520"/>
            <a:ext cx="3639312" cy="914400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4507992" y="427024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BUDGET</a:t>
            </a:r>
            <a:endParaRPr lang="en-US" sz="1050" dirty="0"/>
          </a:p>
        </p:txBody>
      </p:sp>
      <p:sp>
        <p:nvSpPr>
          <p:cNvPr id="45" name="Text 41"/>
          <p:cNvSpPr txBox="1"/>
          <p:nvPr/>
        </p:nvSpPr>
        <p:spPr>
          <a:xfrm>
            <a:off x="4507992" y="447141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100€</a:t>
            </a:r>
            <a:endParaRPr lang="en-US" sz="2200" dirty="0"/>
          </a:p>
        </p:txBody>
      </p:sp>
      <p:sp>
        <p:nvSpPr>
          <p:cNvPr id="46" name="Text 42"/>
          <p:cNvSpPr txBox="1"/>
          <p:nvPr/>
        </p:nvSpPr>
        <p:spPr>
          <a:xfrm>
            <a:off x="4507992" y="47823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calcul + formation</a:t>
            </a:r>
            <a:endParaRPr lang="en-US" sz="950" dirty="0"/>
          </a:p>
        </p:txBody>
      </p:sp>
      <p:pic>
        <p:nvPicPr>
          <p:cNvPr id="49" name="Image 2" descr="/tmp/claude-0/-home-user-hello-world/bef4f35c-a5d5-5f57-b834-f927468a9214/scratchpad/assets/bar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160520"/>
            <a:ext cx="3639312" cy="914400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8275320" y="427024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ROI</a:t>
            </a:r>
            <a:endParaRPr lang="en-US" sz="1050" dirty="0"/>
          </a:p>
        </p:txBody>
      </p:sp>
      <p:sp>
        <p:nvSpPr>
          <p:cNvPr id="51" name="Text 46"/>
          <p:cNvSpPr txBox="1"/>
          <p:nvPr/>
        </p:nvSpPr>
        <p:spPr>
          <a:xfrm>
            <a:off x="8275320" y="447141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mois</a:t>
            </a:r>
            <a:endParaRPr lang="en-US" sz="2200" dirty="0"/>
          </a:p>
        </p:txBody>
      </p:sp>
      <p:sp>
        <p:nvSpPr>
          <p:cNvPr id="52" name="Text 47"/>
          <p:cNvSpPr txBox="1"/>
          <p:nvPr/>
        </p:nvSpPr>
        <p:spPr>
          <a:xfrm>
            <a:off x="8275320" y="47823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traitement facture ramené à 2 jours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48" name="Text 44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Recommandation 3 — Reporting Structuré &amp; Pilotage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051560"/>
            <a:ext cx="365760" cy="36576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Mensuel Opérationnel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0" y="148132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5981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82880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88036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Adresse dysfonctionnements 3 &amp; 4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159752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Onglet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Clés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Fréquence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 fin mois, prévisionnel 30/60/90j, ratio couverture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Quotidienne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par famille produit, coût matière %, marge brute, écarts stocks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Hebdomadaire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Comptabilité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partiel, charges, trésorerie vs prévisionnel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TVA due, URSSAF, arriérés fiscaux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Masse salariale, écarts budgétaires, coût/ETP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6" name="Image 1" descr="/tmp/claude-0/-home-user-hello-world/bef4f35c-a5d5-5f57-b834-f927468a9214/scratchpad/assets/bar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89120"/>
            <a:ext cx="5522976" cy="9144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31520" y="4498848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BUDGET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4700016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450€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5010912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tableau de bord</a:t>
            </a:r>
            <a:endParaRPr lang="en-US" sz="950" dirty="0"/>
          </a:p>
        </p:txBody>
      </p:sp>
      <p:pic>
        <p:nvPicPr>
          <p:cNvPr id="20" name="Image 2" descr="/tmp/claude-0/-home-user-hello-world/bef4f35c-a5d5-5f57-b834-f927468a9214/scratchpad/assets/bar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4389120"/>
            <a:ext cx="5522976" cy="9144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91656" y="4498848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ROI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6391656" y="4700016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mois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6391656" y="5010912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meilleures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Synthèse des 3 Recommandations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831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3959352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Dysfonctionnements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Bénéfices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E-Facture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 (Réglementaire)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Zéro amende, gain temps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Achat 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#1, #2, 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7j→2j, moins d'erreurs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#3, #4, 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 maîtrisée, marges pilotées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Entreprise modernisée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1 300€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 mois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0632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Plan d'Action &amp; Mise en Œuvre (6-12 mois) — Objectifs SMART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02920" y="35387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3977640"/>
            <a:ext cx="3636264" cy="2377440"/>
          </a:xfrm>
          <a:prstGeom prst="roundRect">
            <a:avLst>
              <a:gd name="adj" fmla="val 2308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4023360"/>
            <a:ext cx="3636264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4160520"/>
            <a:ext cx="329184" cy="32918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4160520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67512" y="4553712"/>
            <a:ext cx="3316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Spécifique : </a:t>
            </a:r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&amp; activer PA ; recevoir e-factures fournisseurs via PA</a:t>
            </a:r>
            <a:endParaRPr lang="en-US" sz="870" dirty="0"/>
          </a:p>
        </p:txBody>
      </p:sp>
      <p:sp>
        <p:nvSpPr>
          <p:cNvPr id="13" name="Text 10"/>
          <p:cNvSpPr txBox="1"/>
          <p:nvPr/>
        </p:nvSpPr>
        <p:spPr>
          <a:xfrm>
            <a:off x="667512" y="5129784"/>
            <a:ext cx="3316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Mesurable : </a:t>
            </a:r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factures fournisseurs via PA à partir 1er sept 2026</a:t>
            </a:r>
            <a:endParaRPr lang="en-US" sz="870" dirty="0"/>
          </a:p>
        </p:txBody>
      </p:sp>
      <p:sp>
        <p:nvSpPr>
          <p:cNvPr id="14" name="Text 11"/>
          <p:cNvSpPr txBox="1"/>
          <p:nvPr/>
        </p:nvSpPr>
        <p:spPr>
          <a:xfrm>
            <a:off x="667512" y="5705856"/>
            <a:ext cx="3316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Temporel : </a:t>
            </a:r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1er septembre 2026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4276344" y="3977640"/>
            <a:ext cx="3636264" cy="2377440"/>
          </a:xfrm>
          <a:prstGeom prst="roundRect">
            <a:avLst>
              <a:gd name="adj" fmla="val 2308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76344" y="4023360"/>
            <a:ext cx="3636264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7" name="Shape 14"/>
          <p:cNvSpPr/>
          <p:nvPr/>
        </p:nvSpPr>
        <p:spPr>
          <a:xfrm>
            <a:off x="4459224" y="4160520"/>
            <a:ext cx="329184" cy="32918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59224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870704" y="4160520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Efficience Cycle Achat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440936" y="4553712"/>
            <a:ext cx="3316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Spécifique : </a:t>
            </a:r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délai traitement facture fournisseur</a:t>
            </a:r>
            <a:endParaRPr lang="en-US" sz="870" dirty="0"/>
          </a:p>
        </p:txBody>
      </p:sp>
      <p:sp>
        <p:nvSpPr>
          <p:cNvPr id="21" name="Text 18"/>
          <p:cNvSpPr txBox="1"/>
          <p:nvPr/>
        </p:nvSpPr>
        <p:spPr>
          <a:xfrm>
            <a:off x="4440936" y="5129784"/>
            <a:ext cx="3316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Mesurable : </a:t>
            </a:r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7 jours (moyenne) à 2 jours maximum</a:t>
            </a:r>
            <a:endParaRPr lang="en-US" sz="870" dirty="0"/>
          </a:p>
        </p:txBody>
      </p:sp>
      <p:sp>
        <p:nvSpPr>
          <p:cNvPr id="22" name="Text 19"/>
          <p:cNvSpPr txBox="1"/>
          <p:nvPr/>
        </p:nvSpPr>
        <p:spPr>
          <a:xfrm>
            <a:off x="4440936" y="5705856"/>
            <a:ext cx="3316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Temporel : </a:t>
            </a:r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janvier 2027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8049768" y="3977640"/>
            <a:ext cx="3636264" cy="2377440"/>
          </a:xfrm>
          <a:prstGeom prst="roundRect">
            <a:avLst>
              <a:gd name="adj" fmla="val 2308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49768" y="4023360"/>
            <a:ext cx="3636264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5" name="Shape 22"/>
          <p:cNvSpPr/>
          <p:nvPr/>
        </p:nvSpPr>
        <p:spPr>
          <a:xfrm>
            <a:off x="8232648" y="4160520"/>
            <a:ext cx="329184" cy="32918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32648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644128" y="4160520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Financière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8214360" y="4553712"/>
            <a:ext cx="3316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Spécifique : </a:t>
            </a:r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tableau de bord mensuel complet (trésorerie + marges + conformité)</a:t>
            </a:r>
            <a:endParaRPr lang="en-US" sz="870" dirty="0"/>
          </a:p>
        </p:txBody>
      </p:sp>
      <p:sp>
        <p:nvSpPr>
          <p:cNvPr id="29" name="Text 26"/>
          <p:cNvSpPr txBox="1"/>
          <p:nvPr/>
        </p:nvSpPr>
        <p:spPr>
          <a:xfrm>
            <a:off x="8214360" y="5129784"/>
            <a:ext cx="3316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Mesurable : </a:t>
            </a:r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rapports produits annuels, taux complétude KPI ≥95%</a:t>
            </a:r>
            <a:endParaRPr lang="en-US" sz="870" dirty="0"/>
          </a:p>
        </p:txBody>
      </p:sp>
      <p:sp>
        <p:nvSpPr>
          <p:cNvPr id="30" name="Text 27"/>
          <p:cNvSpPr txBox="1"/>
          <p:nvPr/>
        </p:nvSpPr>
        <p:spPr>
          <a:xfrm>
            <a:off x="8214360" y="5705856"/>
            <a:ext cx="3316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Temporel : </a:t>
            </a:r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d'août 2026</a:t>
            </a:r>
            <a:endParaRPr lang="en-US" sz="87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Chronologie : Gantt Simplifié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51560"/>
            <a:ext cx="402336" cy="402336"/>
          </a:xfrm>
          <a:prstGeom prst="ellipse">
            <a:avLst/>
          </a:prstGeom>
          <a:solidFill>
            <a:srgbClr val="1E3F7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051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" y="1051560"/>
            <a:ext cx="10634472" cy="822960"/>
          </a:xfrm>
          <a:prstGeom prst="roundRect">
            <a:avLst>
              <a:gd name="adj" fmla="val 6667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051560"/>
            <a:ext cx="45720" cy="8229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52728" y="1106424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 — URGENCE CONFORMITÉ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1362456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FIPAG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 2025 conformité (2-3h)   ·  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PA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3-4 plateformes agréées, signature contrat   ·  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e-facture (webinaire PA + support)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402336" cy="402336"/>
          </a:xfrm>
          <a:prstGeom prst="ellipse">
            <a:avLst/>
          </a:prstGeom>
          <a:solidFill>
            <a:srgbClr val="1E3F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2103120"/>
            <a:ext cx="10634472" cy="822960"/>
          </a:xfrm>
          <a:prstGeom prst="roundRect">
            <a:avLst>
              <a:gd name="adj" fmla="val 6667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103120"/>
            <a:ext cx="45720" cy="8229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52728" y="2157984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 2026 — TEST &amp; PRÉPARATION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2414016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factures électroniques (pilote 10-20 factures)   ·  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fournisseurs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dans base PA   ·  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TB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modèles Excel, formules liens FIPAG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402336" cy="402336"/>
          </a:xfrm>
          <a:prstGeom prst="ellipse">
            <a:avLst/>
          </a:prstGeom>
          <a:solidFill>
            <a:srgbClr val="1E3F7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51560" y="3154680"/>
            <a:ext cx="10634472" cy="822960"/>
          </a:xfrm>
          <a:prstGeom prst="roundRect">
            <a:avLst>
              <a:gd name="adj" fmla="val 6667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154680"/>
            <a:ext cx="45720" cy="8229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52728" y="3209544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 — GO LIVE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252728" y="3465576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PA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active (1er sept)   ·  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Ajustements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Débuggage opérationnel (3h support)   ·  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 test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 validé conforme PCG 2025 + PA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206240"/>
            <a:ext cx="402336" cy="402336"/>
          </a:xfrm>
          <a:prstGeom prst="ellipse">
            <a:avLst/>
          </a:prstGeom>
          <a:solidFill>
            <a:srgbClr val="1E3F7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51560" y="4206240"/>
            <a:ext cx="10634472" cy="822960"/>
          </a:xfrm>
          <a:prstGeom prst="roundRect">
            <a:avLst>
              <a:gd name="adj" fmla="val 6667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4206240"/>
            <a:ext cx="45720" cy="8229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52728" y="4261104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 2026 - JANVIER 2027 — CONSOLIDATION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252728" y="4517136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 PA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qualité, gestion anomalies fournisseurs   ·  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 Achats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feuille + modèles OA   ·  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Calibrage seuils alertes, intégration données PDV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5257800"/>
            <a:ext cx="402336" cy="402336"/>
          </a:xfrm>
          <a:prstGeom prst="ellipse">
            <a:avLst/>
          </a:prstGeom>
          <a:solidFill>
            <a:srgbClr val="1E3F7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51560" y="5257800"/>
            <a:ext cx="10634472" cy="822960"/>
          </a:xfrm>
          <a:prstGeom prst="roundRect">
            <a:avLst>
              <a:gd name="adj" fmla="val 6667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" y="5257800"/>
            <a:ext cx="45720" cy="8229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52728" y="5312664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- JUIN 2027 — OPTIMISATION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252728" y="5568696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émission e-factures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obligation 1er sept 2027   ·  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Affinement reporting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KPI par produit   ·  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quantifié, recommandations phase 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Tableau de Bord de Suivi — KPI de Pilotage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78992"/>
            <a:ext cx="41148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9224" y="1051560"/>
            <a:ext cx="7168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: Conformité Réglementaire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1463040"/>
                <a:gridCol w="3867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Fréquence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factures fournisseurs via 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(à partir sept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Factures PA / Factures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factures clients e-format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avant sept 2027 ; 100% après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Factures e-format / Factures client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Retard TVA/URSSAF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jour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(Date réelle - Date limite)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2907792"/>
            <a:ext cx="41148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9224" y="2880360"/>
            <a:ext cx="7168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: Efficience Achat</a:t>
            </a:r>
            <a:endParaRPr lang="en-US" sz="14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612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1463040"/>
                <a:gridCol w="3867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Fréquence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Délai traitement facture (OA→Saisie)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jours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L'Artos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factures appairées sans écarts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L'Artos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commandes via Centrale Achats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(à partir janv 2027)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L'Artos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4736592"/>
            <a:ext cx="41148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9224" y="4709160"/>
            <a:ext cx="7168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: Visibilité Financière</a:t>
            </a:r>
            <a:endParaRPr lang="en-US" sz="145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07492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1463040"/>
                <a:gridCol w="3867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Fréquence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Stratégique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prévue (visibilité jours)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jours minimum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Évite découvert, facilite décisions investissement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brute globale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60-65% (secteur artisan)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rentabilité opérationnelle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Délai clôture comptable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jours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rapide = réactivité décisionnelle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trésorerie réelle vs prévue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Prévisions fiables = confiance dans pilotage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14" name="Text 9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Budget &amp; ROI — Analyse Financière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78992"/>
            <a:ext cx="41148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9224" y="1051560"/>
            <a:ext cx="7168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 Année 1 (2026-2027)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  <a:gridCol w="5696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 Agréée (PA)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Abonnement annuel forfait PME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FIPAG + PCG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Cabinet expertise, 2-3h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 (PA + Centrale Achats)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Webinaires PA + support personnel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Création Tableau de Bord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 Excel/Power BI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Centrale Achats (implémentation)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+ templates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Imprévus (marge 10%)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pour ajustements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ANNÉE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1 250€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0.13% du CA 2025 (960k€)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822192"/>
            <a:ext cx="41148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9224" y="3794760"/>
            <a:ext cx="7168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Ressources RH</a:t>
            </a:r>
            <a:endParaRPr lang="en-US" sz="14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16052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39112"/>
                <a:gridCol w="2039112"/>
                <a:gridCol w="2039112"/>
                <a:gridCol w="20482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(Juil-Sep)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(Oct-Jan)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(Fév-Jun)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Liyam (apprenti)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Tuteur (Frantz)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Cabinet FIPAG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Return on Investment (ROI) Quantifié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pic>
        <p:nvPicPr>
          <p:cNvPr id="4" name="Image 0" descr="/tmp/claude-0/-home-user-hello-world/bef4f35c-a5d5-5f57-b834-f927468a9214/scratchpad/assets/bar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3636264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207008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GAINS TEMPS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408176"/>
            <a:ext cx="3179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250h/an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93392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5h/sem × 50 sem = ~3 750€ (à 15€/h)</a:t>
            </a:r>
            <a:endParaRPr lang="en-US" sz="950" dirty="0"/>
          </a:p>
        </p:txBody>
      </p:sp>
      <p:pic>
        <p:nvPicPr>
          <p:cNvPr id="8" name="Image 1" descr="/tmp/claude-0/-home-user-hello-world/bef4f35c-a5d5-5f57-b834-f927468a9214/scratchpad/assets/bar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344" y="1097280"/>
            <a:ext cx="3636264" cy="1188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04944" y="1207008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MOINS D'ERREURS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504944" y="1408176"/>
            <a:ext cx="3179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~2-5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4504944" y="1993392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Redressements évités/an = ~500-1 500€</a:t>
            </a:r>
            <a:endParaRPr lang="en-US" sz="950" dirty="0"/>
          </a:p>
        </p:txBody>
      </p:sp>
      <p:pic>
        <p:nvPicPr>
          <p:cNvPr id="12" name="Image 2" descr="/tmp/claude-0/-home-user-hello-world/bef4f35c-a5d5-5f57-b834-f927468a9214/scratchpad/assets/bar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768" y="1097280"/>
            <a:ext cx="3636264" cy="11887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78368" y="1207008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✔️ CONFORMITÉ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8278368" y="1408176"/>
            <a:ext cx="3179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8278368" y="1993392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Amendes e-facture = priceless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02920" y="2514600"/>
            <a:ext cx="11183112" cy="3794760"/>
          </a:xfrm>
          <a:prstGeom prst="roundRect">
            <a:avLst>
              <a:gd name="adj" fmla="val 1446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77240" y="2670048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RÉSUMÉ ROI — INVESTISSEMENT NÉGLIGEABLE POUR GAINS STRATÉGIQUES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3200400"/>
            <a:ext cx="2521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INITIAL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3474720"/>
            <a:ext cx="2521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1 250€ (= 0.13% du CA 960k€)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3435858" y="3200400"/>
            <a:ext cx="2521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ANNÉE 1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3435858" y="3474720"/>
            <a:ext cx="2521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4 250€+ (temps + erreurs évitées + conformité assurée)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6094476" y="3200400"/>
            <a:ext cx="2521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ANNÉE 1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6094476" y="3474720"/>
            <a:ext cx="2521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+3 000€ de valeur créée</a:t>
            </a:r>
            <a:endParaRPr lang="en-US" sz="1450" dirty="0"/>
          </a:p>
        </p:txBody>
      </p:sp>
      <p:sp>
        <p:nvSpPr>
          <p:cNvPr id="24" name="Text 19"/>
          <p:cNvSpPr txBox="1"/>
          <p:nvPr/>
        </p:nvSpPr>
        <p:spPr>
          <a:xfrm>
            <a:off x="8753094" y="3200400"/>
            <a:ext cx="2521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8753094" y="3474720"/>
            <a:ext cx="2521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240%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777240" y="42519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8A020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7772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&lt; 2 MOIS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777240" y="4754880"/>
            <a:ext cx="10634472" cy="0"/>
          </a:xfrm>
          <a:prstGeom prst="line">
            <a:avLst/>
          </a:prstGeom>
          <a:noFill/>
          <a:ln w="12700">
            <a:solidFill>
              <a:srgbClr val="E3E5E9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77240" y="4937760"/>
            <a:ext cx="10634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PME de 960k€ CA, dépenser 0.13% du chiffre d'affaires pour retrouver 5h/semaine et sécuriser la conformité légale est un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no-brainer — la valeur stratégique dépasse largement l'investissement.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Déclaration Transparence IA — Conditions d'Utilisation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51560"/>
            <a:ext cx="11183112" cy="960120"/>
          </a:xfrm>
          <a:prstGeom prst="roundRect">
            <a:avLst>
              <a:gd name="adj" fmla="val 5714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64008" cy="9601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17043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CONFORMITÉ RÉGLEMENTAIRE ESG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481328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les directives du projet professionnel B3 Gestion Finance, l'utilisation de l'IA doit être déclarée avec transparence. Ce document satisfait les 3 critères obligatoires 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41148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" y="2240280"/>
            <a:ext cx="7168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Prompts Rédigés &amp; Utilisation d'IA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651760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 — Veille Sectorielle :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8986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Donne-moi les tendances 2025-2026 du secteur boulangerie-pâtisserie en France : croissance, chiffres clés, marges, concurrence réseaux vs indépendants. Sources vérifiées (INSEE, EPSIMAS, Crisalid, études marchés). »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520440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 — Réglementations Comptables :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76732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Quelles sont les obligations comptables et fiscales nouvelles en 2026 pour une PME française ? Facturation électronique, PCG réforme, e-reporting, dates applicables, impacts. »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389120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 — Structure Projet :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63600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Crée un diagnostic financier structuré pour une PME boulangerie : cartographie 3 processus, identification dysfonctionnements, priorisation par gravité/impact, recommandations SMART avec budgets et ROI. »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257800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4 — Design Document :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50468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Génère un HTML/CSS professionnel pour un rapport projet : header gradient, navigation sticky, KPI cards animées, tableaux stylisés, timeline Gantt, badges colorés. Export PDF haute qualité. »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Liste des Éléments Générés par l'IA &amp; Repris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17320"/>
                <a:gridCol w="1691640"/>
                <a:gridCol w="1600200"/>
                <a:gridCol w="4096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Généré IA 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Repris/Modifié 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Humaine 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globale (4 livrables)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Partiellement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Oui, fortement modifié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 (Liyam)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a proposé un cadre ; personnalisé pour L'Artos réel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secteur (croissance +2%, 43k établ)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IA a cherché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Oui, sources vérifiées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 (web search)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a extrait puis vérifié via 29 sources citées en annexe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Cartographie processus (3 process)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Modèle 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Oui, très fortement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 (terrain L'Artos)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IA adapté aux opérations réelles observées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Dysfonctionnements identifiés (5 items)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Humain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 (tuteur Frantz)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Entièrement basé sur observation terrain + expérience Liyam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Recommandations (3 actions)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Cadre 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Oui, 100% adapté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 (expertise secteur)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a fourni structure SMART ; contenu = solutions réalistes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Budgets &amp; ROI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Calculs 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Oui, vérifiés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 (cabinet conseil)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a calculé ; chiffres validés sur tarifs marché réels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d'action (Gantt 6-12 mois)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Modèle 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Oui, phases ajustées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 (faisabilité terrain)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Gantt IA ; calendrier = réaliste vs capacité équipe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HTML/CSS/PDF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Entièrement 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Oui, code généré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Non modifié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 de mise en forme ; IA a optimisé présentation visuelle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Rédaction générale (prose)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Mixte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Oui, réécriture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Oui (Liyam)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a esquissé ; refondu en style professionnel personnel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Analyse Réflexive — Ce Qui a Été Utilisé vs Exclu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51560"/>
            <a:ext cx="5454396" cy="5257800"/>
          </a:xfrm>
          <a:prstGeom prst="roundRect">
            <a:avLst>
              <a:gd name="adj" fmla="val 1043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5454396" cy="36576"/>
          </a:xfrm>
          <a:prstGeom prst="rect">
            <a:avLst/>
          </a:prstGeom>
          <a:solidFill>
            <a:srgbClr val="12977A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216152"/>
            <a:ext cx="310896" cy="310896"/>
          </a:xfrm>
          <a:prstGeom prst="ellipse">
            <a:avLst/>
          </a:prstGeom>
          <a:solidFill>
            <a:srgbClr val="1297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" y="1216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1197864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UTILISÉ (Et Pourquoi c'était justifié)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1655064"/>
            <a:ext cx="5052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IA → </a:t>
            </a:r>
            <a:pPr indent="0" marL="0">
              <a:buNone/>
            </a:pPr>
            <a:r>
              <a:rPr lang="en-US" sz="9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données secteur fiables (INSEE, EPSIMAS, Crisalid, etc.)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1929384"/>
            <a:ext cx="5052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129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Justification : Données publiques, besoin d'exhaustivité actuelle (2025-2026)</a:t>
            </a:r>
            <a:endParaRPr lang="en-US" sz="83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2551176"/>
            <a:ext cx="5052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diagnostic → </a:t>
            </a:r>
            <a:pPr indent="0" marL="0">
              <a:buNone/>
            </a:pPr>
            <a:r>
              <a:rPr lang="en-US" sz="9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SWOT/dysfonctionnements priorisés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2825496"/>
            <a:ext cx="5052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129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Justification : Modèle reconnu d'analyse ; efficacité &gt; réinventer la roue</a:t>
            </a:r>
            <a:endParaRPr lang="en-US" sz="83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3447288"/>
            <a:ext cx="5052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budgets &amp; ROI → </a:t>
            </a:r>
            <a:pPr indent="0" marL="0">
              <a:buNone/>
            </a:pPr>
            <a:r>
              <a:rPr lang="en-US" sz="9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automatisées (gain temps, coûts services)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704088" y="3721608"/>
            <a:ext cx="5052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129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Justification : Mathématiques objectives ; l'IA = fiable pour calculs</a:t>
            </a:r>
            <a:endParaRPr lang="en-US" sz="830" dirty="0"/>
          </a:p>
        </p:txBody>
      </p:sp>
      <p:sp>
        <p:nvSpPr>
          <p:cNvPr id="15" name="Text 13"/>
          <p:cNvSpPr txBox="1"/>
          <p:nvPr/>
        </p:nvSpPr>
        <p:spPr>
          <a:xfrm>
            <a:off x="704088" y="4343400"/>
            <a:ext cx="5052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visuel (HTML/CSS/PDF) → </a:t>
            </a:r>
            <a:pPr indent="0" marL="0">
              <a:buNone/>
            </a:pPr>
            <a:r>
              <a:rPr lang="en-US" sz="9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code styling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704088" y="4617720"/>
            <a:ext cx="5052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129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Justification : Outil technique ; objectif = lisibilité maximale</a:t>
            </a:r>
            <a:endParaRPr lang="en-US" sz="83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5239512"/>
            <a:ext cx="5052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forme tableaux/KPI cards → </a:t>
            </a:r>
            <a:pPr indent="0" marL="0">
              <a:buNone/>
            </a:pPr>
            <a:r>
              <a:rPr lang="en-US" sz="9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CSS animées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5513832"/>
            <a:ext cx="5052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129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Justification : Cosmétique ; ne change pas fond analytique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231636" y="1051560"/>
            <a:ext cx="5454396" cy="5257800"/>
          </a:xfrm>
          <a:prstGeom prst="roundRect">
            <a:avLst>
              <a:gd name="adj" fmla="val 1043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1636" y="1051560"/>
            <a:ext cx="5454396" cy="36576"/>
          </a:xfrm>
          <a:prstGeom prst="rect">
            <a:avLst/>
          </a:prstGeom>
          <a:solidFill>
            <a:srgbClr val="EB215D"/>
          </a:solidFill>
          <a:ln/>
        </p:spPr>
      </p:sp>
      <p:sp>
        <p:nvSpPr>
          <p:cNvPr id="21" name="Shape 19"/>
          <p:cNvSpPr/>
          <p:nvPr/>
        </p:nvSpPr>
        <p:spPr>
          <a:xfrm>
            <a:off x="6432804" y="1216152"/>
            <a:ext cx="310896" cy="310896"/>
          </a:xfrm>
          <a:prstGeom prst="ellipse">
            <a:avLst/>
          </a:prstGeom>
          <a:solidFill>
            <a:srgbClr val="EB215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32804" y="1216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53428" y="1197864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EXCLU (Et Pourquoi c'était impératif)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32804" y="1655064"/>
            <a:ext cx="5052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données fictives → EXCLU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6432804" y="1929384"/>
            <a:ext cx="5052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i="1" dirty="0">
                <a:solidFill>
                  <a:srgbClr val="EB2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Risque : Inventer chiffres clients L'Artos serait malhonnête</a:t>
            </a:r>
            <a:endParaRPr lang="en-US" sz="830" dirty="0"/>
          </a:p>
        </p:txBody>
      </p:sp>
      <p:sp>
        <p:nvSpPr>
          <p:cNvPr id="26" name="Text 24"/>
          <p:cNvSpPr txBox="1"/>
          <p:nvPr/>
        </p:nvSpPr>
        <p:spPr>
          <a:xfrm>
            <a:off x="6432804" y="2551176"/>
            <a:ext cx="5052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intégrale de contenu secteur → EXCLU</a:t>
            </a:r>
            <a:endParaRPr lang="en-US" sz="930" dirty="0"/>
          </a:p>
        </p:txBody>
      </p:sp>
      <p:sp>
        <p:nvSpPr>
          <p:cNvPr id="27" name="Text 25"/>
          <p:cNvSpPr txBox="1"/>
          <p:nvPr/>
        </p:nvSpPr>
        <p:spPr>
          <a:xfrm>
            <a:off x="6432804" y="2825496"/>
            <a:ext cx="5052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i="1" dirty="0">
                <a:solidFill>
                  <a:srgbClr val="EB2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Risque : Plagiat articles ; seules synthèses personnalisées utilisées</a:t>
            </a:r>
            <a:endParaRPr lang="en-US" sz="830" dirty="0"/>
          </a:p>
        </p:txBody>
      </p:sp>
      <p:sp>
        <p:nvSpPr>
          <p:cNvPr id="28" name="Text 26"/>
          <p:cNvSpPr txBox="1"/>
          <p:nvPr/>
        </p:nvSpPr>
        <p:spPr>
          <a:xfrm>
            <a:off x="6432804" y="3447288"/>
            <a:ext cx="5052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Dysfonctionnements invités → EXCLU</a:t>
            </a:r>
            <a:endParaRPr lang="en-US" sz="930" dirty="0"/>
          </a:p>
        </p:txBody>
      </p:sp>
      <p:sp>
        <p:nvSpPr>
          <p:cNvPr id="29" name="Text 27"/>
          <p:cNvSpPr txBox="1"/>
          <p:nvPr/>
        </p:nvSpPr>
        <p:spPr>
          <a:xfrm>
            <a:off x="6432804" y="3721608"/>
            <a:ext cx="5052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i="1" dirty="0">
                <a:solidFill>
                  <a:srgbClr val="EB2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Risque : Analyse terrain = humain uniquement (observation Liyam + tuteur)</a:t>
            </a:r>
            <a:endParaRPr lang="en-US" sz="830" dirty="0"/>
          </a:p>
        </p:txBody>
      </p:sp>
      <p:sp>
        <p:nvSpPr>
          <p:cNvPr id="30" name="Text 28"/>
          <p:cNvSpPr txBox="1"/>
          <p:nvPr/>
        </p:nvSpPr>
        <p:spPr>
          <a:xfrm>
            <a:off x="6432804" y="4343400"/>
            <a:ext cx="5052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génériques sans contexte → EXCLU</a:t>
            </a:r>
            <a:endParaRPr lang="en-US" sz="930" dirty="0"/>
          </a:p>
        </p:txBody>
      </p:sp>
      <p:sp>
        <p:nvSpPr>
          <p:cNvPr id="31" name="Text 29"/>
          <p:cNvSpPr txBox="1"/>
          <p:nvPr/>
        </p:nvSpPr>
        <p:spPr>
          <a:xfrm>
            <a:off x="6432804" y="4617720"/>
            <a:ext cx="5052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i="1" dirty="0">
                <a:solidFill>
                  <a:srgbClr val="EB2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Risque : Solutions « par défaut » non adaptées L'Artos ; chaque action = ciblée</a:t>
            </a:r>
            <a:endParaRPr lang="en-US" sz="830" dirty="0"/>
          </a:p>
        </p:txBody>
      </p:sp>
      <p:sp>
        <p:nvSpPr>
          <p:cNvPr id="32" name="Text 30"/>
          <p:cNvSpPr txBox="1"/>
          <p:nvPr/>
        </p:nvSpPr>
        <p:spPr>
          <a:xfrm>
            <a:off x="6432804" y="5239512"/>
            <a:ext cx="5052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Promesses irréalistes ROI → EXCLU</a:t>
            </a:r>
            <a:endParaRPr lang="en-US" sz="930" dirty="0"/>
          </a:p>
        </p:txBody>
      </p:sp>
      <p:sp>
        <p:nvSpPr>
          <p:cNvPr id="33" name="Text 31"/>
          <p:cNvSpPr txBox="1"/>
          <p:nvPr/>
        </p:nvSpPr>
        <p:spPr>
          <a:xfrm>
            <a:off x="6432804" y="5513832"/>
            <a:ext cx="5052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i="1" dirty="0">
                <a:solidFill>
                  <a:srgbClr val="EB2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Risque : Gonfler chiffres serait malhonnête ; tous calculs conservateurs</a:t>
            </a:r>
            <a:endParaRPr lang="en-US" sz="83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Synthèse de l'Utilisation d'IA : Verdict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pic>
        <p:nvPicPr>
          <p:cNvPr id="4" name="Image 0" descr="/tmp/claude-0/-home-user-hello-world/bef4f35c-a5d5-5f57-b834-f927468a9214/scratchpad/assets/verdic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11183112" cy="1417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1243584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UTILISATION RAISONNÉE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499616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30552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Structuration, recherche, mise en forme (outils légitimes)</a:t>
            </a:r>
            <a:endParaRPr lang="en-US" sz="1050" dirty="0"/>
          </a:p>
        </p:txBody>
      </p:sp>
      <p:pic>
        <p:nvPicPr>
          <p:cNvPr id="8" name="Image 1" descr="/tmp/claude-0/-home-user-hello-world/bef4f35c-a5d5-5f57-b834-f927468a9214/scratchpad/assets/verdic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51760"/>
            <a:ext cx="11183112" cy="1417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798064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UTILISATION SUPERVISÉE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054096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685032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Calculs, budgets, recommandations (via idée humain)</a:t>
            </a:r>
            <a:endParaRPr lang="en-US" sz="1050" dirty="0"/>
          </a:p>
        </p:txBody>
      </p:sp>
      <p:pic>
        <p:nvPicPr>
          <p:cNvPr id="12" name="Image 2" descr="/tmp/claude-0/-home-user-hello-world/bef4f35c-a5d5-5f57-b834-f927468a9214/scratchpad/assets/verdict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06240"/>
            <a:ext cx="11183112" cy="1417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7240" y="4352544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UTILISATION EXCLUE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4608576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32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" y="5239512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Données, terrain, analyses critiques (100% humain)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L'ARTOS — PROJET PROFESSIONNEL B3 GESTION FINANCE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🥐  Conclusion Transparence IA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95528"/>
            <a:ext cx="11183112" cy="29261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97280"/>
            <a:ext cx="11183112" cy="1737360"/>
          </a:xfrm>
          <a:prstGeom prst="roundRect">
            <a:avLst>
              <a:gd name="adj" fmla="val 3158"/>
            </a:avLst>
          </a:prstGeom>
          <a:solidFill>
            <a:srgbClr val="F1F2F5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64008" cy="17373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234440"/>
            <a:ext cx="10634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 été utilisée comme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d'efficacité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(recherche, structuration, design) et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comme substitut d'expertise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Tous les éléments critiques (diagnostic, recommandations, budgets) ont été validés par des experts du domaine (Liyam en finance, tuteur Frantz en opérations, sources publiques vérifiées). Ce projet reflète une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responsable de l'IA au service de l'analyse humaine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conforme aux standards d'intégrité académique.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120640"/>
            <a:ext cx="12191695" cy="1371600"/>
          </a:xfrm>
          <a:prstGeom prst="rect">
            <a:avLst/>
          </a:prstGeom>
          <a:solidFill>
            <a:srgbClr val="1E3F7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120640"/>
            <a:ext cx="12191695" cy="457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5285232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SYNTHÈSE — PROJET PROFESSIONNEL COMPLET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62356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Livrables + Support Oral  |  Sources vérifiées  |  Recommandations SMART et budgétisées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89788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1 : Veille (6 pages)   |   Livrable 2 : Diagnostic (8 pages)   |   Livrable 3 : Recommandations (6 pages)   |   Livrable 4 : Plan &amp; KPI (7 pages)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21792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Date : Juillet 2026   |   🎓 ESG Guadeloupe, Bachelor 3 Gestion Finance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2026-09-04T18:05:15Z</dcterms:created>
  <dcterms:modified xsi:type="dcterms:W3CDTF">2026-09-04T18:05:15Z</dcterms:modified>
</cp:coreProperties>
</file>